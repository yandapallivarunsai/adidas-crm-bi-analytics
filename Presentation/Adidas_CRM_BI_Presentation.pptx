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1930" y="31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8091" y="3085765"/>
            <a:ext cx="8240108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2" y="990600"/>
            <a:ext cx="7989752" cy="1504844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2" y="2495444"/>
            <a:ext cx="7989752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8383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228003"/>
            <a:ext cx="7989752" cy="36307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034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52646" y="5141973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36573"/>
            <a:ext cx="7989751" cy="1504844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3" y="4541417"/>
            <a:ext cx="798975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882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2" y="2228002"/>
            <a:ext cx="389952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282" y="2228003"/>
            <a:ext cx="390766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131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28003"/>
            <a:ext cx="3593500" cy="576262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2" y="2926051"/>
            <a:ext cx="3899527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69308" y="2228003"/>
            <a:ext cx="3601635" cy="576262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282" y="2926051"/>
            <a:ext cx="3907662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5559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5902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136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52646" y="5141973"/>
            <a:ext cx="8238707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352" y="5262296"/>
            <a:ext cx="353662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99" y="601200"/>
            <a:ext cx="824040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05617" y="5262295"/>
            <a:ext cx="426532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872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4693389"/>
            <a:ext cx="7989752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8093" y="599725"/>
            <a:ext cx="8238706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6"/>
            <a:ext cx="7989752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8650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631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6629400" y="599725"/>
            <a:ext cx="2057399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75725"/>
            <a:ext cx="1503123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81192" y="675725"/>
            <a:ext cx="592220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45255" y="5956136"/>
            <a:ext cx="947672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0"/>
            <a:ext cx="592220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892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687474"/>
            <a:ext cx="7989752" cy="108332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228003"/>
            <a:ext cx="7989752" cy="3630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59327" y="595613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0"/>
            <a:ext cx="48705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00476" y="5956136"/>
            <a:ext cx="7704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8091" y="441325"/>
            <a:ext cx="2719909" cy="10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5976001" y="441325"/>
            <a:ext cx="2710800" cy="108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3216601" y="441325"/>
            <a:ext cx="2710800" cy="108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607821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1583659"/>
          </a:xfrm>
        </p:spPr>
        <p:txBody>
          <a:bodyPr>
            <a:normAutofit/>
          </a:bodyPr>
          <a:lstStyle/>
          <a:p>
            <a:r>
              <a:rPr dirty="0"/>
              <a:t>CRM &amp; BI-Driven Strategy to Optimize Regional Sales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 dirty="0"/>
              <a:t>A Case Study on Adidas</a:t>
            </a:r>
          </a:p>
          <a:p>
            <a:r>
              <a:rPr sz="1600" dirty="0"/>
              <a:t>Presented by: Varun Sai Yandapalli</a:t>
            </a:r>
          </a:p>
          <a:p>
            <a:r>
              <a:rPr sz="1600" dirty="0"/>
              <a:t>Institution: National College of Ireland</a:t>
            </a:r>
          </a:p>
          <a:p>
            <a:r>
              <a:rPr sz="1600" dirty="0"/>
              <a:t>Student ID: 23325836</a:t>
            </a:r>
          </a:p>
        </p:txBody>
      </p:sp>
      <p:pic>
        <p:nvPicPr>
          <p:cNvPr id="5" name="Picture 4" descr="A store front with a sign&#10;&#10;AI-generated content may be incorrect.">
            <a:extLst>
              <a:ext uri="{FF2B5EF4-FFF2-40B4-BE49-F238E27FC236}">
                <a16:creationId xmlns:a16="http://schemas.microsoft.com/office/drawing/2014/main" id="{4C3B4043-B3EF-B983-C19D-5DD2198D95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690" y="2228003"/>
            <a:ext cx="4366260" cy="363079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Context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1600" dirty="0"/>
              <a:t>Business Challenge:</a:t>
            </a:r>
          </a:p>
          <a:p>
            <a:r>
              <a:rPr sz="1600" dirty="0"/>
              <a:t>Underperformance in South, Southeast, and Midwest U.S. markets</a:t>
            </a:r>
          </a:p>
          <a:p>
            <a:r>
              <a:rPr sz="1600" dirty="0"/>
              <a:t>Declining regional sales and low online penetration</a:t>
            </a:r>
          </a:p>
          <a:p>
            <a:r>
              <a:rPr sz="1600" dirty="0"/>
              <a:t>Weak customer engagement and loyalty scores</a:t>
            </a:r>
          </a:p>
          <a:p>
            <a:pPr marL="0" indent="0">
              <a:buNone/>
            </a:pPr>
            <a:r>
              <a:rPr sz="1600" dirty="0"/>
              <a:t>Strategic Objectives:</a:t>
            </a:r>
          </a:p>
          <a:p>
            <a:r>
              <a:rPr sz="1600" dirty="0"/>
              <a:t>Enhance customer engagement via CRM automation</a:t>
            </a:r>
          </a:p>
          <a:p>
            <a:r>
              <a:rPr sz="1600" dirty="0"/>
              <a:t>Increase sales and loyalty in targeted regions</a:t>
            </a:r>
          </a:p>
          <a:p>
            <a:r>
              <a:rPr sz="1600" dirty="0"/>
              <a:t>Deliver real-time, data-driven insights through dashboards</a:t>
            </a:r>
          </a:p>
        </p:txBody>
      </p:sp>
      <p:pic>
        <p:nvPicPr>
          <p:cNvPr id="5" name="Picture 4" descr="A white bar graph with a red arrow going up&#10;&#10;AI-generated content may be incorrect.">
            <a:extLst>
              <a:ext uri="{FF2B5EF4-FFF2-40B4-BE49-F238E27FC236}">
                <a16:creationId xmlns:a16="http://schemas.microsoft.com/office/drawing/2014/main" id="{CF2BF5FF-3D03-2877-4369-57965FCE63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6239" y="2484755"/>
            <a:ext cx="4677761" cy="311728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 &amp; Technological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1600" dirty="0"/>
              <a:t>Project Role:</a:t>
            </a:r>
          </a:p>
          <a:p>
            <a:r>
              <a:rPr lang="en-US" sz="1600" dirty="0"/>
              <a:t>As a Business Analyst,</a:t>
            </a:r>
            <a:r>
              <a:rPr sz="1600" dirty="0"/>
              <a:t> Led data analysis, CRM system design, dashboard development, and integration</a:t>
            </a:r>
          </a:p>
          <a:p>
            <a:pPr marL="0" indent="0">
              <a:buNone/>
            </a:pPr>
            <a:endParaRPr sz="1600" dirty="0"/>
          </a:p>
          <a:p>
            <a:pPr marL="0" indent="0">
              <a:buNone/>
            </a:pPr>
            <a:r>
              <a:rPr sz="1600" dirty="0"/>
              <a:t>Tools &amp; Technologies:</a:t>
            </a:r>
          </a:p>
          <a:p>
            <a:r>
              <a:rPr sz="1600" dirty="0"/>
              <a:t>Python (EDA, Preprocessing)</a:t>
            </a:r>
          </a:p>
          <a:p>
            <a:r>
              <a:rPr sz="1600" dirty="0"/>
              <a:t>Power BI (Dashboards)</a:t>
            </a:r>
          </a:p>
          <a:p>
            <a:r>
              <a:rPr sz="1600" dirty="0"/>
              <a:t>Salesforce (CRM Automation)</a:t>
            </a:r>
          </a:p>
          <a:p>
            <a:r>
              <a:rPr sz="1600" dirty="0"/>
              <a:t>PostgreSQL (Data Warehouse)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7F57235-F1AC-844B-098C-C0F86AA56D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44540" y="3261360"/>
            <a:ext cx="1066800" cy="899160"/>
          </a:xfrm>
          <a:prstGeom prst="rect">
            <a:avLst/>
          </a:prstGeom>
        </p:spPr>
      </p:pic>
      <p:pic>
        <p:nvPicPr>
          <p:cNvPr id="7" name="Picture 6" descr="A yellow sign with black text&#10;&#10;AI-generated content may be incorrect.">
            <a:extLst>
              <a:ext uri="{FF2B5EF4-FFF2-40B4-BE49-F238E27FC236}">
                <a16:creationId xmlns:a16="http://schemas.microsoft.com/office/drawing/2014/main" id="{39FCA37D-44C9-3CBF-028D-9C9DBDE700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2620" y="4900352"/>
            <a:ext cx="1310640" cy="813666"/>
          </a:xfrm>
          <a:prstGeom prst="rect">
            <a:avLst/>
          </a:prstGeom>
        </p:spPr>
      </p:pic>
      <p:pic>
        <p:nvPicPr>
          <p:cNvPr id="9" name="Picture 8" descr="A blue elephant logo with black text&#10;&#10;AI-generated content may be incorrect.">
            <a:extLst>
              <a:ext uri="{FF2B5EF4-FFF2-40B4-BE49-F238E27FC236}">
                <a16:creationId xmlns:a16="http://schemas.microsoft.com/office/drawing/2014/main" id="{27165104-A1EF-BC45-888B-6DD4B6C301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4319" y="3877287"/>
            <a:ext cx="2038417" cy="1049886"/>
          </a:xfrm>
          <a:prstGeom prst="rect">
            <a:avLst/>
          </a:prstGeom>
        </p:spPr>
      </p:pic>
      <p:pic>
        <p:nvPicPr>
          <p:cNvPr id="11" name="Picture 10" descr="A blue cloud with white text&#10;&#10;AI-generated content may be incorrect.">
            <a:extLst>
              <a:ext uri="{FF2B5EF4-FFF2-40B4-BE49-F238E27FC236}">
                <a16:creationId xmlns:a16="http://schemas.microsoft.com/office/drawing/2014/main" id="{28AD8A54-2CBE-C43E-889C-0F643EE138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77100" y="3954477"/>
            <a:ext cx="1203960" cy="89550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Exploratory Data Analysis &amp; SWOT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889761"/>
            <a:ext cx="7989752" cy="39690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1600" dirty="0"/>
              <a:t>Key Data Insights:</a:t>
            </a:r>
          </a:p>
          <a:p>
            <a:r>
              <a:rPr sz="1600" dirty="0"/>
              <a:t>- Sales ≠ Profit in weak regions</a:t>
            </a:r>
          </a:p>
          <a:p>
            <a:r>
              <a:rPr sz="1600" dirty="0"/>
              <a:t>- Midwest &amp; South show low loyalty and high costs</a:t>
            </a:r>
          </a:p>
          <a:p>
            <a:r>
              <a:rPr sz="1600" dirty="0"/>
              <a:t>- Product misalignment in weak markets</a:t>
            </a:r>
          </a:p>
          <a:p>
            <a:pPr marL="0" indent="0">
              <a:buNone/>
            </a:pPr>
            <a:endParaRPr sz="1600" dirty="0"/>
          </a:p>
          <a:p>
            <a:pPr marL="0" indent="0">
              <a:buNone/>
            </a:pPr>
            <a:r>
              <a:rPr sz="1600" dirty="0"/>
              <a:t>SWOT Summary:</a:t>
            </a:r>
          </a:p>
          <a:p>
            <a:r>
              <a:rPr sz="1600" dirty="0"/>
              <a:t>Strengths: Global brand, omnichannel presence</a:t>
            </a:r>
          </a:p>
          <a:p>
            <a:r>
              <a:rPr sz="1600" dirty="0"/>
              <a:t>Weaknesses: Low digital sales in target regions</a:t>
            </a:r>
          </a:p>
          <a:p>
            <a:r>
              <a:rPr sz="1600" dirty="0"/>
              <a:t>Opportunities: Personalization, CRM optimization</a:t>
            </a:r>
          </a:p>
          <a:p>
            <a:r>
              <a:rPr sz="1600" dirty="0"/>
              <a:t>Threats: Retail decline, competition</a:t>
            </a:r>
          </a:p>
        </p:txBody>
      </p:sp>
      <p:pic>
        <p:nvPicPr>
          <p:cNvPr id="12" name="Picture 11" descr="A logo of a company swot analysis&#10;&#10;AI-generated content may be incorrect.">
            <a:extLst>
              <a:ext uri="{FF2B5EF4-FFF2-40B4-BE49-F238E27FC236}">
                <a16:creationId xmlns:a16="http://schemas.microsoft.com/office/drawing/2014/main" id="{D543E326-1B99-C265-F444-68E6BA4411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5411" y="2858947"/>
            <a:ext cx="2824223" cy="282422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Integrated 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031357"/>
            <a:ext cx="7989752" cy="4044978"/>
          </a:xfrm>
        </p:spPr>
        <p:txBody>
          <a:bodyPr/>
          <a:lstStyle/>
          <a:p>
            <a:pPr marL="0" indent="0">
              <a:buNone/>
            </a:pPr>
            <a:r>
              <a:rPr lang="en-US" sz="1600" b="1" dirty="0"/>
              <a:t>ARCHITECTURE FLOW: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sz="1600" dirty="0"/>
          </a:p>
        </p:txBody>
      </p:sp>
      <p:pic>
        <p:nvPicPr>
          <p:cNvPr id="5" name="Picture 4" descr="A diagram of a computer process&#10;&#10;AI-generated content may be incorrect.">
            <a:extLst>
              <a:ext uri="{FF2B5EF4-FFF2-40B4-BE49-F238E27FC236}">
                <a16:creationId xmlns:a16="http://schemas.microsoft.com/office/drawing/2014/main" id="{A1BE3B95-36FA-26CA-5133-79AC6FFDF6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3432" y="2684206"/>
            <a:ext cx="5004619" cy="33921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CRM Automation Workflows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sz="1600" dirty="0"/>
              <a:t>Workflow A - Low Loyalty (&lt;50):</a:t>
            </a:r>
          </a:p>
          <a:p>
            <a:r>
              <a:rPr sz="1600" dirty="0"/>
              <a:t>Trigger: Discount Email</a:t>
            </a:r>
          </a:p>
          <a:p>
            <a:r>
              <a:rPr sz="1600" dirty="0"/>
              <a:t>Action: Boost loyalty &amp; log campaign</a:t>
            </a:r>
          </a:p>
          <a:p>
            <a:endParaRPr sz="1600" dirty="0"/>
          </a:p>
          <a:p>
            <a:pPr marL="0" indent="0">
              <a:buNone/>
            </a:pPr>
            <a:r>
              <a:rPr sz="1600" dirty="0"/>
              <a:t>Workflow B - High Loyalty (≥50):</a:t>
            </a:r>
          </a:p>
          <a:p>
            <a:r>
              <a:rPr sz="1600" dirty="0"/>
              <a:t>Trigger: Reward Email</a:t>
            </a:r>
          </a:p>
          <a:p>
            <a:r>
              <a:rPr sz="1600" dirty="0"/>
              <a:t>Action: Increase loyalty</a:t>
            </a:r>
          </a:p>
          <a:p>
            <a:endParaRPr sz="1600" dirty="0"/>
          </a:p>
          <a:p>
            <a:pPr marL="0" indent="0">
              <a:buNone/>
            </a:pPr>
            <a:r>
              <a:rPr sz="1600" dirty="0"/>
              <a:t>Custom Fields:</a:t>
            </a:r>
          </a:p>
          <a:p>
            <a:r>
              <a:rPr sz="1600" dirty="0" err="1"/>
              <a:t>Loyalty_Score__c</a:t>
            </a:r>
            <a:endParaRPr sz="1600" dirty="0"/>
          </a:p>
          <a:p>
            <a:r>
              <a:rPr sz="1600" dirty="0" err="1"/>
              <a:t>Last_Campaign_Sent__c</a:t>
            </a:r>
            <a:endParaRPr sz="1600" dirty="0"/>
          </a:p>
          <a:p>
            <a:r>
              <a:rPr sz="1600" dirty="0" err="1"/>
              <a:t>Region__c</a:t>
            </a:r>
            <a:endParaRPr sz="1600" dirty="0"/>
          </a:p>
        </p:txBody>
      </p:sp>
      <p:pic>
        <p:nvPicPr>
          <p:cNvPr id="7" name="Picture 6" descr="A diagram of a software flowchart&#10;&#10;AI-generated content may be incorrect.">
            <a:extLst>
              <a:ext uri="{FF2B5EF4-FFF2-40B4-BE49-F238E27FC236}">
                <a16:creationId xmlns:a16="http://schemas.microsoft.com/office/drawing/2014/main" id="{562448F7-02F6-419B-2604-49E5CE641F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1440" y="2072640"/>
            <a:ext cx="4823460" cy="407239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Dashboards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lIns="4032000"/>
          <a:lstStyle/>
          <a:p>
            <a:pPr marL="0" indent="0">
              <a:buNone/>
            </a:pPr>
            <a:r>
              <a:rPr sz="1600" dirty="0"/>
              <a:t>Dashboard 1: Overall Sales</a:t>
            </a:r>
          </a:p>
          <a:p>
            <a:r>
              <a:rPr sz="1600" dirty="0"/>
              <a:t>Region &amp; channel performance</a:t>
            </a:r>
          </a:p>
          <a:p>
            <a:r>
              <a:rPr sz="1600" dirty="0"/>
              <a:t>Monthly trends</a:t>
            </a:r>
          </a:p>
          <a:p>
            <a:endParaRPr sz="1600" dirty="0"/>
          </a:p>
          <a:p>
            <a:pPr marL="0" indent="0">
              <a:buNone/>
            </a:pPr>
            <a:r>
              <a:rPr sz="1600" dirty="0"/>
              <a:t>Dashboard 2: Region Analysis</a:t>
            </a:r>
          </a:p>
          <a:p>
            <a:r>
              <a:rPr sz="1600" dirty="0"/>
              <a:t>Loyalty, margin, sales vs. profit</a:t>
            </a:r>
          </a:p>
          <a:p>
            <a:pPr marL="0" indent="0">
              <a:buNone/>
            </a:pPr>
            <a:endParaRPr sz="1600" dirty="0"/>
          </a:p>
          <a:p>
            <a:pPr marL="0" indent="0">
              <a:buNone/>
            </a:pPr>
            <a:r>
              <a:rPr sz="1600" dirty="0"/>
              <a:t>Dashboard 3: Post-CRM Impact</a:t>
            </a:r>
          </a:p>
          <a:p>
            <a:r>
              <a:rPr sz="1600" dirty="0"/>
              <a:t>Sales uplift, loyalty gain, open/click rates</a:t>
            </a:r>
          </a:p>
        </p:txBody>
      </p:sp>
      <p:pic>
        <p:nvPicPr>
          <p:cNvPr id="5" name="Picture 4" descr="A colorful pie chart and graph&#10;&#10;AI-generated content may be incorrect.">
            <a:extLst>
              <a:ext uri="{FF2B5EF4-FFF2-40B4-BE49-F238E27FC236}">
                <a16:creationId xmlns:a16="http://schemas.microsoft.com/office/drawing/2014/main" id="{43620C79-5BAA-6D82-53A4-62FB4104B3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516" y="2121822"/>
            <a:ext cx="3827989" cy="36307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 Analysis &amp;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379220"/>
            <a:ext cx="7989752" cy="5059680"/>
          </a:xfrm>
        </p:spPr>
        <p:txBody>
          <a:bodyPr/>
          <a:lstStyle/>
          <a:p>
            <a:pPr marL="0" indent="0">
              <a:buNone/>
            </a:pPr>
            <a:r>
              <a:rPr sz="1600" dirty="0"/>
              <a:t>CRM Impact Summary:</a:t>
            </a:r>
          </a:p>
          <a:p>
            <a:r>
              <a:rPr sz="1600" dirty="0"/>
              <a:t>Avg Loyalty Score: 41.2 → 54.6 (+13.4 pts)</a:t>
            </a:r>
          </a:p>
          <a:p>
            <a:r>
              <a:rPr sz="1600" dirty="0"/>
              <a:t>CRM Sales: $1.32M → $1.72M (+$404K)</a:t>
            </a:r>
          </a:p>
          <a:p>
            <a:r>
              <a:rPr sz="1600" dirty="0"/>
              <a:t>Open Rate: 48.2%</a:t>
            </a:r>
          </a:p>
          <a:p>
            <a:r>
              <a:rPr sz="1600" dirty="0"/>
              <a:t>Click Rate: 24.5%</a:t>
            </a:r>
          </a:p>
          <a:p>
            <a:pPr marL="0" indent="0">
              <a:buNone/>
            </a:pPr>
            <a:r>
              <a:rPr sz="1600" dirty="0"/>
              <a:t>Regional Highlights:</a:t>
            </a:r>
          </a:p>
          <a:p>
            <a:r>
              <a:rPr lang="en-US" sz="1600" dirty="0"/>
              <a:t>S</a:t>
            </a:r>
            <a:r>
              <a:rPr sz="1600" dirty="0"/>
              <a:t>outh: Sales boost</a:t>
            </a:r>
          </a:p>
          <a:p>
            <a:r>
              <a:rPr sz="1600" dirty="0"/>
              <a:t>Southeast: Loyalty gain</a:t>
            </a:r>
          </a:p>
        </p:txBody>
      </p:sp>
      <p:pic>
        <p:nvPicPr>
          <p:cNvPr id="5" name="Picture 4" descr="A circular chart with white text&#10;&#10;AI-generated content may be incorrect.">
            <a:extLst>
              <a:ext uri="{FF2B5EF4-FFF2-40B4-BE49-F238E27FC236}">
                <a16:creationId xmlns:a16="http://schemas.microsoft.com/office/drawing/2014/main" id="{17791BE7-3D63-7BF9-DCE1-B2714E60C1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1020" y="2286904"/>
            <a:ext cx="3435983" cy="343598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Learnings &amp;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lIns="3816000">
            <a:normAutofit lnSpcReduction="10000"/>
          </a:bodyPr>
          <a:lstStyle/>
          <a:p>
            <a:pPr marL="0" indent="0">
              <a:buNone/>
            </a:pPr>
            <a:r>
              <a:rPr sz="1600" dirty="0"/>
              <a:t>Lessons Learned:</a:t>
            </a:r>
          </a:p>
          <a:p>
            <a:r>
              <a:rPr sz="1600" dirty="0"/>
              <a:t>BI + CRM integration = Efficiency</a:t>
            </a:r>
          </a:p>
          <a:p>
            <a:r>
              <a:rPr sz="1600" dirty="0"/>
              <a:t>Schema-first design is critical</a:t>
            </a:r>
          </a:p>
          <a:p>
            <a:pPr marL="0" indent="0">
              <a:buNone/>
            </a:pPr>
            <a:r>
              <a:rPr sz="1600" dirty="0"/>
              <a:t>Challenges:</a:t>
            </a:r>
          </a:p>
          <a:p>
            <a:r>
              <a:rPr sz="1600" dirty="0"/>
              <a:t>Complex CRM flows</a:t>
            </a:r>
          </a:p>
          <a:p>
            <a:r>
              <a:rPr sz="1600" dirty="0"/>
              <a:t>Testing with mock data</a:t>
            </a:r>
          </a:p>
          <a:p>
            <a:pPr marL="0" indent="0">
              <a:buNone/>
            </a:pPr>
            <a:r>
              <a:rPr sz="1600" dirty="0"/>
              <a:t>Future Improvements:</a:t>
            </a:r>
          </a:p>
          <a:p>
            <a:r>
              <a:rPr sz="1600" dirty="0"/>
              <a:t>Predictive modeling</a:t>
            </a:r>
          </a:p>
          <a:p>
            <a:r>
              <a:rPr sz="1600" dirty="0"/>
              <a:t>A/B testing</a:t>
            </a:r>
          </a:p>
          <a:p>
            <a:r>
              <a:rPr sz="1600" dirty="0"/>
              <a:t>SMS &amp; social media channels</a:t>
            </a:r>
          </a:p>
        </p:txBody>
      </p:sp>
      <p:pic>
        <p:nvPicPr>
          <p:cNvPr id="7" name="Picture 6" descr="A person walking up stairs with a flag and gear&#10;&#10;AI-generated content may be incorrect.">
            <a:extLst>
              <a:ext uri="{FF2B5EF4-FFF2-40B4-BE49-F238E27FC236}">
                <a16:creationId xmlns:a16="http://schemas.microsoft.com/office/drawing/2014/main" id="{BE404BB5-87EA-6DB7-62CF-4170200E32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205" y="2442259"/>
            <a:ext cx="3136739" cy="336014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Strategic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1600" dirty="0"/>
              <a:t>Outcomes:</a:t>
            </a:r>
          </a:p>
          <a:p>
            <a:r>
              <a:rPr sz="1600" dirty="0"/>
              <a:t>Scalable CRM automation</a:t>
            </a:r>
          </a:p>
          <a:p>
            <a:r>
              <a:rPr sz="1600" dirty="0"/>
              <a:t>Real-time insights via dashboards</a:t>
            </a:r>
          </a:p>
          <a:p>
            <a:r>
              <a:rPr sz="1600" dirty="0"/>
              <a:t>Boosted loyalty &amp; sales in target regions</a:t>
            </a:r>
          </a:p>
          <a:p>
            <a:pPr marL="0" indent="0">
              <a:buNone/>
            </a:pPr>
            <a:endParaRPr sz="1600" dirty="0"/>
          </a:p>
          <a:p>
            <a:pPr marL="0" indent="0">
              <a:buNone/>
            </a:pPr>
            <a:r>
              <a:rPr sz="1600" dirty="0"/>
              <a:t>Future Vision:</a:t>
            </a:r>
          </a:p>
          <a:p>
            <a:r>
              <a:rPr sz="1600" dirty="0"/>
              <a:t>Predictive analytics</a:t>
            </a:r>
          </a:p>
          <a:p>
            <a:r>
              <a:rPr sz="1600" dirty="0"/>
              <a:t>Real-time personalization</a:t>
            </a:r>
          </a:p>
          <a:p>
            <a:r>
              <a:rPr sz="1600" dirty="0"/>
              <a:t>Omnichannel expansion</a:t>
            </a:r>
          </a:p>
        </p:txBody>
      </p:sp>
      <p:pic>
        <p:nvPicPr>
          <p:cNvPr id="5" name="Picture 4" descr="A person standing on a rooftop overlooking a city&#10;&#10;AI-generated content may be incorrect.">
            <a:extLst>
              <a:ext uri="{FF2B5EF4-FFF2-40B4-BE49-F238E27FC236}">
                <a16:creationId xmlns:a16="http://schemas.microsoft.com/office/drawing/2014/main" id="{47176D8A-F807-DCD0-C5E4-009F66B4E8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9" y="2625716"/>
            <a:ext cx="3855759" cy="304587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69</TotalTime>
  <Words>425</Words>
  <Application>Microsoft Office PowerPoint</Application>
  <PresentationFormat>On-screen Show (4:3)</PresentationFormat>
  <Paragraphs>96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Gill Sans MT</vt:lpstr>
      <vt:lpstr>Wingdings 2</vt:lpstr>
      <vt:lpstr>Dividend</vt:lpstr>
      <vt:lpstr>CRM &amp; BI-Driven Strategy to Optimize Regional Sales Performance</vt:lpstr>
      <vt:lpstr>Business Context &amp; Objectives</vt:lpstr>
      <vt:lpstr>Role &amp; Technological Framework</vt:lpstr>
      <vt:lpstr>Exploratory Data Analysis &amp; SWOT Summary</vt:lpstr>
      <vt:lpstr>Integrated System Architecture</vt:lpstr>
      <vt:lpstr>CRM Automation Workflows</vt:lpstr>
      <vt:lpstr>Business Dashboards Overview</vt:lpstr>
      <vt:lpstr>Impact Analysis &amp; Metrics</vt:lpstr>
      <vt:lpstr>Key Learnings &amp; Challenges</vt:lpstr>
      <vt:lpstr>Conclusion &amp; Strategic Outcomes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Varun Sai Yandapalli</cp:lastModifiedBy>
  <cp:revision>4</cp:revision>
  <dcterms:created xsi:type="dcterms:W3CDTF">2013-01-27T09:14:16Z</dcterms:created>
  <dcterms:modified xsi:type="dcterms:W3CDTF">2025-04-20T15:14:16Z</dcterms:modified>
  <cp:category/>
</cp:coreProperties>
</file>